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DTCC Paperless Replacement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3A7CBD"/>
                </a:solidFill>
                <a:latin typeface="Calibri"/>
              </a:defRPr>
            </a:pPr>
            <a:r>
              <a:t>Automating the Ceding Carrier Replacement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023360"/>
            <a:ext cx="274320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Calibri"/>
              </a:defRPr>
            </a:pPr>
            <a:r>
              <a:t>Feature Demo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6C00"/>
                </a:solidFill>
                <a:latin typeface="Calibri"/>
              </a:defRPr>
            </a:pPr>
            <a:r>
              <a:t>CURRENT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The Replacement Process Today — Fully Manual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5C8A"/>
                </a:solidFill>
                <a:latin typeface="Calibri"/>
              </a:defRPr>
            </a:pPr>
            <a:r>
              <a:t>Manual Workflow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4A4A4A"/>
                </a:solidFill>
                <a:latin typeface="Calibri"/>
              </a:defRPr>
            </a:pPr>
            <a:r>
              <a:t>1.  Replacement comes into a case</a:t>
            </a:r>
          </a:p>
          <a:p>
            <a:pPr>
              <a:spcAft>
                <a:spcPts val="1000"/>
              </a:spcAft>
              <a:defRPr sz="1600">
                <a:solidFill>
                  <a:srgbClr val="4A4A4A"/>
                </a:solidFill>
                <a:latin typeface="Calibri"/>
              </a:defRPr>
            </a:pPr>
            <a:r>
              <a:t>2.  Analyst manually identifies the ceding carrier</a:t>
            </a:r>
          </a:p>
          <a:p>
            <a:pPr>
              <a:spcAft>
                <a:spcPts val="1000"/>
              </a:spcAft>
              <a:defRPr sz="1600">
                <a:solidFill>
                  <a:srgbClr val="4A4A4A"/>
                </a:solidFill>
                <a:latin typeface="Calibri"/>
              </a:defRPr>
            </a:pPr>
            <a:r>
              <a:t>3.  Analyst sends email, fax, or phone call</a:t>
            </a:r>
            <a:br/>
            <a:r>
              <a:t>     to the ceding carrier requesting documents</a:t>
            </a:r>
          </a:p>
          <a:p>
            <a:pPr>
              <a:spcAft>
                <a:spcPts val="1000"/>
              </a:spcAft>
              <a:defRPr sz="1600">
                <a:solidFill>
                  <a:srgbClr val="4A4A4A"/>
                </a:solidFill>
                <a:latin typeface="Calibri"/>
              </a:defRPr>
            </a:pPr>
            <a:r>
              <a:t>4.  Wait for ceding carrier to respond</a:t>
            </a:r>
          </a:p>
          <a:p>
            <a:pPr>
              <a:spcAft>
                <a:spcPts val="1000"/>
              </a:spcAft>
              <a:defRPr sz="1600">
                <a:solidFill>
                  <a:srgbClr val="4A4A4A"/>
                </a:solidFill>
                <a:latin typeface="Calibri"/>
              </a:defRPr>
            </a:pPr>
            <a:r>
              <a:t>5.  Manually track follow-ups &amp; status</a:t>
            </a:r>
          </a:p>
          <a:p>
            <a:pPr>
              <a:spcAft>
                <a:spcPts val="1000"/>
              </a:spcAft>
              <a:defRPr sz="1600">
                <a:solidFill>
                  <a:srgbClr val="4A4A4A"/>
                </a:solidFill>
                <a:latin typeface="Calibri"/>
              </a:defRPr>
            </a:pPr>
            <a:r>
              <a:t>6.  Manually enter received data into the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  <a:latin typeface="Calibri"/>
              </a:defRPr>
            </a:pPr>
            <a:r>
              <a:t>Pain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C0392B"/>
                </a:solidFill>
                <a:latin typeface="Calibri"/>
              </a:defRPr>
            </a:pPr>
            <a:r>
              <a:t>✖  Time-consuming manual outreach (email / fax / calls)</a:t>
            </a:r>
          </a:p>
          <a:p>
            <a:pPr>
              <a:spcAft>
                <a:spcPts val="1000"/>
              </a:spcAft>
              <a:defRPr sz="1600">
                <a:solidFill>
                  <a:srgbClr val="C0392B"/>
                </a:solidFill>
                <a:latin typeface="Calibri"/>
              </a:defRPr>
            </a:pPr>
            <a:r>
              <a:t>✖  No standardized process — varies by analyst</a:t>
            </a:r>
          </a:p>
          <a:p>
            <a:pPr>
              <a:spcAft>
                <a:spcPts val="1000"/>
              </a:spcAft>
              <a:defRPr sz="1600">
                <a:solidFill>
                  <a:srgbClr val="C0392B"/>
                </a:solidFill>
                <a:latin typeface="Calibri"/>
              </a:defRPr>
            </a:pPr>
            <a:r>
              <a:t>✖  Difficult to track status of pending requests</a:t>
            </a:r>
          </a:p>
          <a:p>
            <a:pPr>
              <a:spcAft>
                <a:spcPts val="1000"/>
              </a:spcAft>
              <a:defRPr sz="1600">
                <a:solidFill>
                  <a:srgbClr val="C0392B"/>
                </a:solidFill>
                <a:latin typeface="Calibri"/>
              </a:defRPr>
            </a:pPr>
            <a:r>
              <a:t>✖  Delays in receiving replacement paperwork</a:t>
            </a:r>
          </a:p>
          <a:p>
            <a:pPr>
              <a:spcAft>
                <a:spcPts val="1000"/>
              </a:spcAft>
              <a:defRPr sz="1600">
                <a:solidFill>
                  <a:srgbClr val="C0392B"/>
                </a:solidFill>
                <a:latin typeface="Calibri"/>
              </a:defRPr>
            </a:pPr>
            <a:r>
              <a:t>✖  Risk of human error in data entry</a:t>
            </a:r>
          </a:p>
          <a:p>
            <a:pPr>
              <a:spcAft>
                <a:spcPts val="1000"/>
              </a:spcAft>
              <a:defRPr sz="1600">
                <a:solidFill>
                  <a:srgbClr val="C0392B"/>
                </a:solidFill>
                <a:latin typeface="Calibri"/>
              </a:defRPr>
            </a:pPr>
            <a:r>
              <a:t>✖  No audit trail for communications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Calibri"/>
              </a:defRPr>
            </a:pPr>
            <a:r>
              <a:t>NEW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DTCC Paperless Replacement — What's New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029200" cy="19202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73152" cy="1920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Calibri"/>
              </a:defRPr>
            </a:pPr>
            <a:r>
              <a:t>Auto-Select Owner on TRX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A4A4A"/>
                </a:solidFill>
                <a:latin typeface="Calibri"/>
              </a:defRPr>
            </a:pPr>
            <a:r>
              <a:t>System will automatically select the owner while creating a transaction — no more manual lookup or selection errors.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645920"/>
            <a:ext cx="5029200" cy="19202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645920"/>
            <a:ext cx="73152" cy="192024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Calibri"/>
              </a:defRPr>
            </a:pPr>
            <a:r>
              <a:t>Decimal Precision 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3317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A4A4A"/>
                </a:solidFill>
                <a:latin typeface="Calibri"/>
              </a:defRPr>
            </a:pPr>
            <a:r>
              <a:t>Fixed the decimal issue — values now correctly support the format xxx.x0 (e.g., 125.50 instead of truncating to 125.5).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840480"/>
            <a:ext cx="5029200" cy="19202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840480"/>
            <a:ext cx="73152" cy="192024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023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Calibri"/>
              </a:defRPr>
            </a:pPr>
            <a:r>
              <a:t>Paperless Communication via DTCC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5262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A4A4A"/>
                </a:solidFill>
                <a:latin typeface="Calibri"/>
              </a:defRPr>
            </a:pPr>
            <a:r>
              <a:t>Replacement requests are sent electronically through DTCC — eliminating manual emails, faxes, and phone calls to ceding carriers.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840480"/>
            <a:ext cx="5029200" cy="19202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3840480"/>
            <a:ext cx="73152" cy="19202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023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Calibri"/>
              </a:defRPr>
            </a:pPr>
            <a:r>
              <a:t>End-to-End Tracking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5262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A4A4A"/>
                </a:solidFill>
                <a:latin typeface="Calibri"/>
              </a:defRPr>
            </a:pPr>
            <a:r>
              <a:t>Full visibility into replacement request status — sent, received, pending — with an auditable trail of all communications.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6C00"/>
                </a:solidFill>
                <a:latin typeface="Calibri"/>
              </a:defRPr>
            </a:pPr>
            <a: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Before vs. After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Calibri"/>
              </a:defRPr>
            </a:pPr>
            <a:r>
              <a:t>BEFORE  (Manual)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C0392B"/>
                </a:solidFill>
                <a:latin typeface="Calibri"/>
              </a:defRPr>
            </a:pPr>
            <a:r>
              <a:t>✖  Manually identify ceding carrier</a:t>
            </a:r>
          </a:p>
          <a:p>
            <a:pPr>
              <a:spcAft>
                <a:spcPts val="1400"/>
              </a:spcAft>
              <a:defRPr sz="1600">
                <a:solidFill>
                  <a:srgbClr val="C0392B"/>
                </a:solidFill>
                <a:latin typeface="Calibri"/>
              </a:defRPr>
            </a:pPr>
            <a:r>
              <a:t>✖  Email / fax / call to request docs</a:t>
            </a:r>
          </a:p>
          <a:p>
            <a:pPr>
              <a:spcAft>
                <a:spcPts val="1400"/>
              </a:spcAft>
              <a:defRPr sz="1600">
                <a:solidFill>
                  <a:srgbClr val="C0392B"/>
                </a:solidFill>
                <a:latin typeface="Calibri"/>
              </a:defRPr>
            </a:pPr>
            <a:r>
              <a:t>✖  Manually select owner on each TRX</a:t>
            </a:r>
          </a:p>
          <a:p>
            <a:pPr>
              <a:spcAft>
                <a:spcPts val="1400"/>
              </a:spcAft>
              <a:defRPr sz="1600">
                <a:solidFill>
                  <a:srgbClr val="C0392B"/>
                </a:solidFill>
                <a:latin typeface="Calibri"/>
              </a:defRPr>
            </a:pPr>
            <a:r>
              <a:t>✖  Decimal values truncated (xxx.x)</a:t>
            </a:r>
          </a:p>
          <a:p>
            <a:pPr>
              <a:spcAft>
                <a:spcPts val="1400"/>
              </a:spcAft>
              <a:defRPr sz="1600">
                <a:solidFill>
                  <a:srgbClr val="C0392B"/>
                </a:solidFill>
                <a:latin typeface="Calibri"/>
              </a:defRPr>
            </a:pPr>
            <a:r>
              <a:t>✖  No visibility into request status</a:t>
            </a:r>
          </a:p>
          <a:p>
            <a:pPr>
              <a:spcAft>
                <a:spcPts val="1400"/>
              </a:spcAft>
              <a:defRPr sz="1600">
                <a:solidFill>
                  <a:srgbClr val="C0392B"/>
                </a:solidFill>
                <a:latin typeface="Calibri"/>
              </a:defRPr>
            </a:pPr>
            <a:r>
              <a:t>✖  No audit trail</a:t>
            </a:r>
          </a:p>
          <a:p>
            <a:pPr>
              <a:spcAft>
                <a:spcPts val="1400"/>
              </a:spcAft>
              <a:defRPr sz="1600">
                <a:solidFill>
                  <a:srgbClr val="C0392B"/>
                </a:solidFill>
                <a:latin typeface="Calibri"/>
              </a:defRPr>
            </a:pPr>
            <a:r>
              <a:t>✖  Slow turnaround, frequent follow-ups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Calibri"/>
              </a:defRPr>
            </a:pPr>
            <a:r>
              <a:t>AFTER  (DTCC Paperless)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7AE60"/>
                </a:solidFill>
                <a:latin typeface="Calibri"/>
              </a:defRPr>
            </a:pPr>
            <a:r>
              <a:t>✔  Automated electronic request via DTCC</a:t>
            </a:r>
          </a:p>
          <a:p>
            <a:pPr>
              <a:spcAft>
                <a:spcPts val="1400"/>
              </a:spcAft>
              <a:defRPr sz="1600">
                <a:solidFill>
                  <a:srgbClr val="27AE60"/>
                </a:solidFill>
                <a:latin typeface="Calibri"/>
              </a:defRPr>
            </a:pPr>
            <a:r>
              <a:t>✔  No more emails, faxes, or phone calls</a:t>
            </a:r>
          </a:p>
          <a:p>
            <a:pPr>
              <a:spcAft>
                <a:spcPts val="1400"/>
              </a:spcAft>
              <a:defRPr sz="1600">
                <a:solidFill>
                  <a:srgbClr val="27AE60"/>
                </a:solidFill>
                <a:latin typeface="Calibri"/>
              </a:defRPr>
            </a:pPr>
            <a:r>
              <a:t>✔  System auto-selects owner on TRX creation</a:t>
            </a:r>
          </a:p>
          <a:p>
            <a:pPr>
              <a:spcAft>
                <a:spcPts val="1400"/>
              </a:spcAft>
              <a:defRPr sz="1600">
                <a:solidFill>
                  <a:srgbClr val="27AE60"/>
                </a:solidFill>
                <a:latin typeface="Calibri"/>
              </a:defRPr>
            </a:pPr>
            <a:r>
              <a:t>✔  Decimal precision fixed (xxx.x0)</a:t>
            </a:r>
          </a:p>
          <a:p>
            <a:pPr>
              <a:spcAft>
                <a:spcPts val="1400"/>
              </a:spcAft>
              <a:defRPr sz="1600">
                <a:solidFill>
                  <a:srgbClr val="27AE60"/>
                </a:solidFill>
                <a:latin typeface="Calibri"/>
              </a:defRPr>
            </a:pPr>
            <a:r>
              <a:t>✔  Real-time status tracking</a:t>
            </a:r>
          </a:p>
          <a:p>
            <a:pPr>
              <a:spcAft>
                <a:spcPts val="1400"/>
              </a:spcAft>
              <a:defRPr sz="1600">
                <a:solidFill>
                  <a:srgbClr val="27AE60"/>
                </a:solidFill>
                <a:latin typeface="Calibri"/>
              </a:defRPr>
            </a:pPr>
            <a:r>
              <a:t>✔  Full audit trail of all communications</a:t>
            </a:r>
          </a:p>
          <a:p>
            <a:pPr>
              <a:spcAft>
                <a:spcPts val="1400"/>
              </a:spcAft>
              <a:defRPr sz="1600">
                <a:solidFill>
                  <a:srgbClr val="27AE60"/>
                </a:solidFill>
                <a:latin typeface="Calibri"/>
              </a:defRPr>
            </a:pPr>
            <a:r>
              <a:t>✔  Faster turnaround, fewer manual steps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A7CBD"/>
                </a:solidFill>
                <a:latin typeface="Calibri"/>
              </a:defRPr>
            </a:pPr>
            <a:r>
              <a:t>DTCC Paperless Replacement in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931920"/>
            <a:ext cx="210312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0E0E0"/>
                </a:solidFill>
                <a:latin typeface="Calibri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